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2" d="100"/>
          <a:sy n="72" d="100"/>
        </p:scale>
        <p:origin x="44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AF28-BA58-4CD6-8D07-9D295F033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394F3-AE63-421C-A1B5-B59D4D61D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3ADA7-D282-4D58-AAE2-B891EE6D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1D20C-F48D-451B-BEE7-53A00727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79291-9A97-440C-83B4-9A081F81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72027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1D19-A23A-41B8-92F1-C64A0E006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11D4E-BFD1-4E40-BC98-5CF1584E1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9367F-6531-48BC-B079-4EABFC67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DEAF0-2A2D-4041-B060-EA2F9AE5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369AB-482C-4FB5-860C-E1C09172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62166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B55C-540C-46D5-98D8-4D8F10469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2E314-6F74-4B06-BFD2-4B19F524B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133F1-A726-4883-AFE3-2E27D4DDC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287B2-F38E-48F5-8BCF-917E44FB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AAA0C-10F5-4B90-B4AE-DAA665D8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70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1C5C-6086-44F8-ABDA-825808DDA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969B6-B35B-47CE-B763-39B09572D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23095-DB14-405F-98E2-04EC31647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FCA78-E51C-4462-B993-553EE525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433F2-6559-4A91-86E5-852FBECA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E568A-33E6-449A-A1B9-4B9F1F36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97302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3862-E067-4721-A3A7-8C22DE6D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C4D34-DEED-4B61-AE57-7177ECA8D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E5419-2371-4E7D-93C6-A2A38C39B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5A695-0C8D-4790-B32E-98AC1C608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D9B3D-5AA9-47F2-8C2A-FCAE65BCB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7781B-567F-440B-9081-166CC22D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61E2A-DC01-49F8-A350-B0B8E65D1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D3C22-243B-4ECA-9E4E-62782A83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095568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CD434-EE19-44B1-93C7-A46B32E9B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F3D33-5D9A-456F-A8CE-56A963C7A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C92F5-765B-4043-97D0-07C91945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F1830-C396-4D5E-88A4-8ED7E4DA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95037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3E901-B6F3-4470-9435-27BB66B7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1D0C4-BA44-4520-AA71-138B9646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E7864-E861-43C9-8DF1-C7AAE83A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04590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A8FC-65AD-4264-A853-33242122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B34C1-186C-402F-A9C1-8C583A71E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6CFF9-8377-4216-8721-0C189C523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8D8B7-DF20-4158-B0C0-2AB5461B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E0B31-0DF6-40EB-B6EB-24EA2DF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E0673-4F20-401C-829A-B7C35F22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96890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34D21-9CBE-424E-998B-3DB5A514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3A189-3798-43B6-A808-5E653282A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0A214-591E-4EAD-AB53-E9C327933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F2490-DD2A-43BE-8734-62084444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D31C5-A5D1-4EF2-8D84-38F94C59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1BFA-9EC3-4C84-A1E9-24430BE5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13820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F236-5A67-403E-B694-27F92190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F54EF-3A89-4D2D-B690-4E3B8EF3C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BBB08-4A25-43A8-9C4C-C0601A1D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92D31-C3F7-4343-950A-30ED79AAF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CD6B-0A10-44A6-824C-4FF2B1DA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96730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3CF6E-475C-43B7-BE69-D8D22188C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3D50E-F54C-48C1-A3C3-BDC56D758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7F85-D3AC-4E38-A604-7A90604A4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794EC-A5DE-4323-B168-1ED9460D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74108-921E-4A33-8E18-19CA6C3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71364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3AAE0-D5AB-496A-8656-1987F068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B625B-0B00-4BFB-B918-FFCEBB408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A4CD8-4394-4641-B4FC-096B1C22E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22428-828C-49EE-8D8A-72DA8F42E981}" type="datetimeFigureOut">
              <a:rPr lang="fr-CM" smtClean="0"/>
              <a:t>23/07/2025</a:t>
            </a:fld>
            <a:endParaRPr lang="fr-C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3FB9F-0EEB-4750-9790-AA062C5A68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169DC-071E-4EE8-8775-7822D2C10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6E98C-A201-4B46-B701-1104C541B83A}" type="slidenum">
              <a:rPr lang="fr-CM" smtClean="0"/>
              <a:t>‹#›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01863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mp&#244;t.c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744CCB-FE05-4539-8C6C-9A889CC1F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31502"/>
              </p:ext>
            </p:extLst>
          </p:nvPr>
        </p:nvGraphicFramePr>
        <p:xfrm>
          <a:off x="301486" y="290406"/>
          <a:ext cx="4707835" cy="5687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07835">
                  <a:extLst>
                    <a:ext uri="{9D8B030D-6E8A-4147-A177-3AD203B41FA5}">
                      <a16:colId xmlns:a16="http://schemas.microsoft.com/office/drawing/2014/main" val="1849696956"/>
                    </a:ext>
                  </a:extLst>
                </a:gridCol>
              </a:tblGrid>
              <a:tr h="497070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REPUBLIQUE DU CAMEROUN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Paix-Travail-Patrie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----------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MINISTERE DES FINANCES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----------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DIRECTION GENERALE DES IMPOTS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----------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CENTRE REGIONAL DES IMPOTS DU CENTRE-2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----------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CENTRE DES IMPOTS DES MOYENNES ENTREPRISES 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DE YAOUNDE-OUEST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…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BRIGADE DE CONTROLES ET VERIFICATIONS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DES ENTREPRISES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…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600" dirty="0">
                          <a:effectLst/>
                        </a:rPr>
                        <a:t>SOUS-BRIGADE DES VERIFICATIONS GENERALES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522899"/>
                  </a:ext>
                </a:extLst>
              </a:tr>
            </a:tbl>
          </a:graphicData>
        </a:graphic>
      </p:graphicFrame>
      <p:pic>
        <p:nvPicPr>
          <p:cNvPr id="7" name="Image 3">
            <a:extLst>
              <a:ext uri="{FF2B5EF4-FFF2-40B4-BE49-F238E27FC236}">
                <a16:creationId xmlns:a16="http://schemas.microsoft.com/office/drawing/2014/main" id="{7991B324-C4F9-430E-9D8B-E7863655A9D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807" y="2173357"/>
            <a:ext cx="1828137" cy="17294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BC7087-FD22-4C86-AE2D-163CA4997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418119"/>
              </p:ext>
            </p:extLst>
          </p:nvPr>
        </p:nvGraphicFramePr>
        <p:xfrm>
          <a:off x="7182681" y="290406"/>
          <a:ext cx="4707835" cy="56871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07835">
                  <a:extLst>
                    <a:ext uri="{9D8B030D-6E8A-4147-A177-3AD203B41FA5}">
                      <a16:colId xmlns:a16="http://schemas.microsoft.com/office/drawing/2014/main" val="4271298726"/>
                    </a:ext>
                  </a:extLst>
                </a:gridCol>
              </a:tblGrid>
              <a:tr h="56871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REPUBLIC OF CAMEROON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Peace-Work-Fatherland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----------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MINISTRY OF FINANCE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DIRECTORATE GENERAL OF TAXATION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----------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REGIONAL TAXATION CENTER OF CENTER-2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----------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TAXATION CENTER FOR MEDIUM SIZE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ENTERPRISES OF YAOUNDE-WEST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----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BRIGADE FOR AUDITING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Site web : </a:t>
                      </a:r>
                      <a:r>
                        <a:rPr lang="en-US" sz="1200" u="sng" dirty="0">
                          <a:effectLst/>
                          <a:hlinkClick r:id="rId3"/>
                        </a:rPr>
                        <a:t>www.impôt.cm</a:t>
                      </a:r>
                      <a:endParaRPr lang="fr-CM" sz="2800" dirty="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 err="1">
                          <a:effectLst/>
                        </a:rPr>
                        <a:t>N°gratuit</a:t>
                      </a:r>
                      <a:r>
                        <a:rPr lang="en-US" sz="1200" dirty="0">
                          <a:effectLst/>
                        </a:rPr>
                        <a:t> : 8200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82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97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3FEC13-31D8-414B-8919-9F0C0E7B4E76}"/>
              </a:ext>
            </a:extLst>
          </p:cNvPr>
          <p:cNvSpPr txBox="1"/>
          <p:nvPr/>
        </p:nvSpPr>
        <p:spPr>
          <a:xfrm>
            <a:off x="1729409" y="-68253"/>
            <a:ext cx="8547652" cy="179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AXES DE RECHERCHES  DE LA SOCIETE MAURITANIAN CONCULTING  GROUP (MCG)</a:t>
            </a:r>
            <a:endParaRPr lang="fr-CM" sz="105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</a:t>
            </a:r>
            <a:endParaRPr lang="fr-CM" sz="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FDBFF8-9836-45E7-8905-4D86C25D7378}"/>
              </a:ext>
            </a:extLst>
          </p:cNvPr>
          <p:cNvSpPr txBox="1"/>
          <p:nvPr/>
        </p:nvSpPr>
        <p:spPr>
          <a:xfrm>
            <a:off x="4031974" y="1539806"/>
            <a:ext cx="4128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PLAN DE PRESENTATION</a:t>
            </a:r>
            <a:endParaRPr lang="fr-CM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ED0410-3E8F-42AF-BDDA-9F0E3F9332BC}"/>
              </a:ext>
            </a:extLst>
          </p:cNvPr>
          <p:cNvSpPr txBox="1"/>
          <p:nvPr/>
        </p:nvSpPr>
        <p:spPr>
          <a:xfrm>
            <a:off x="477078" y="2868449"/>
            <a:ext cx="5327374" cy="2950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DE L’ENTREPRISE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3300" indent="-283210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 DES TABLEAUX DE SYNTHESE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 DES POSTES IMPORTANTS DU BILAN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ANALYSE DES CHARGES ET DES PRODUITS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6E54D4-75B3-4CF4-926D-65FA9D49EF4A}"/>
              </a:ext>
            </a:extLst>
          </p:cNvPr>
          <p:cNvSpPr txBox="1"/>
          <p:nvPr/>
        </p:nvSpPr>
        <p:spPr>
          <a:xfrm>
            <a:off x="6155635" y="2867670"/>
            <a:ext cx="6096000" cy="2950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07000"/>
              </a:lnSpc>
              <a:spcAft>
                <a:spcPts val="800"/>
              </a:spcAft>
              <a:buBlip>
                <a:blip r:embed="rId2"/>
              </a:buBlip>
            </a:pPr>
            <a:r>
              <a:rPr lang="fr-FR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 SUR LES INFORMATIONS EXTERIEURES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DU PASSIF DE L’ENTREPRISE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3300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ANNONCE DES INVESTIGATIONS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AUTRES DILIGENCES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77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F41A76-371F-456C-A437-69472DEBFA56}"/>
              </a:ext>
            </a:extLst>
          </p:cNvPr>
          <p:cNvSpPr txBox="1"/>
          <p:nvPr/>
        </p:nvSpPr>
        <p:spPr>
          <a:xfrm>
            <a:off x="357809" y="993912"/>
            <a:ext cx="11476382" cy="449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I°) PRESENTATION DE LENTREPRISE</a:t>
            </a:r>
            <a:endParaRPr lang="fr-CM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A) PRESENTATION SOMMAIRE DE L’ENTREPRISE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RAISON SOCIAL : MAURITANIAN CONSDULTING GROUP (MCG SARL)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NIU                       :  M109616781533K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LOCALISATION :   DAMAS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BP                          : 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TELEPHONE :    Yaoundé-        TELEPHONE :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DATE DE CREATION : NOVEMBRE 1996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EMAIL :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EXERCICES CONTROLES : 2021   2022   2023 ;2024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Blip>
                <a:blip r:embed="rId2"/>
              </a:buBlip>
            </a:pP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EQUIPE DES VERIFICATEURS : MME LANGWA RELINDIS/ MME ABANDA EPSE BIEM Juliette </a:t>
            </a:r>
            <a:r>
              <a:rPr lang="fr-FR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Ngum</a:t>
            </a:r>
            <a:r>
              <a:rPr lang="fr-FR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50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D8B85D-C692-427B-8179-96BE277B715E}"/>
              </a:ext>
            </a:extLst>
          </p:cNvPr>
          <p:cNvSpPr txBox="1"/>
          <p:nvPr/>
        </p:nvSpPr>
        <p:spPr>
          <a:xfrm>
            <a:off x="748748" y="476052"/>
            <a:ext cx="6096000" cy="1625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Blip>
                <a:blip r:embed="rId2"/>
              </a:buBlip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B) PRESENTATION GENERAL 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Forme juridique           : SARL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Nom du Dirigeant         :</a:t>
            </a:r>
            <a:r>
              <a:rPr lang="fr-FR" sz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0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 Renseigner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Montant du Capital      : </a:t>
            </a:r>
            <a:r>
              <a:rPr lang="fr-FR" sz="2000" b="1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10 000 000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Répartition du Capital : 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232A4A-9249-43B3-8855-CD66C39D2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580073"/>
              </p:ext>
            </p:extLst>
          </p:nvPr>
        </p:nvGraphicFramePr>
        <p:xfrm>
          <a:off x="748748" y="2344053"/>
          <a:ext cx="9070815" cy="13954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2419">
                  <a:extLst>
                    <a:ext uri="{9D8B030D-6E8A-4147-A177-3AD203B41FA5}">
                      <a16:colId xmlns:a16="http://schemas.microsoft.com/office/drawing/2014/main" val="200554706"/>
                    </a:ext>
                  </a:extLst>
                </a:gridCol>
                <a:gridCol w="1612217">
                  <a:extLst>
                    <a:ext uri="{9D8B030D-6E8A-4147-A177-3AD203B41FA5}">
                      <a16:colId xmlns:a16="http://schemas.microsoft.com/office/drawing/2014/main" val="2577770051"/>
                    </a:ext>
                  </a:extLst>
                </a:gridCol>
                <a:gridCol w="2126718">
                  <a:extLst>
                    <a:ext uri="{9D8B030D-6E8A-4147-A177-3AD203B41FA5}">
                      <a16:colId xmlns:a16="http://schemas.microsoft.com/office/drawing/2014/main" val="554376548"/>
                    </a:ext>
                  </a:extLst>
                </a:gridCol>
                <a:gridCol w="2019461">
                  <a:extLst>
                    <a:ext uri="{9D8B030D-6E8A-4147-A177-3AD203B41FA5}">
                      <a16:colId xmlns:a16="http://schemas.microsoft.com/office/drawing/2014/main" val="1451280430"/>
                    </a:ext>
                  </a:extLst>
                </a:gridCol>
              </a:tblGrid>
              <a:tr h="348859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200">
                          <a:effectLst/>
                        </a:rPr>
                        <a:t>NOM et PRENOM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200">
                          <a:effectLst/>
                        </a:rPr>
                        <a:t>NATIONALITE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200">
                          <a:effectLst/>
                        </a:rPr>
                        <a:t>NOMBRE DE PART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MONTANT TOTAL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71567"/>
                  </a:ext>
                </a:extLst>
              </a:tr>
              <a:tr h="348859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8825203"/>
                  </a:ext>
                </a:extLst>
              </a:tr>
              <a:tr h="348859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8271829"/>
                  </a:ext>
                </a:extLst>
              </a:tr>
              <a:tr h="348859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2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8540864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49C1BD84-3C1F-4A60-8EB4-0354023E0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3530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M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595036-411C-4E7B-BC18-D0033DE29CA3}"/>
              </a:ext>
            </a:extLst>
          </p:cNvPr>
          <p:cNvSpPr txBox="1"/>
          <p:nvPr/>
        </p:nvSpPr>
        <p:spPr>
          <a:xfrm>
            <a:off x="694156" y="4032719"/>
            <a:ext cx="7303432" cy="2900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Activité de l’entreprise : Activité principale : prestation de services 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Activité secondaire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 RAS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Principaux partenaires :  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-Fournisseurs :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-Clients : 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Environnement économique (Modèle économique   nombre d’agence) : , une seule Agence (Yaoundé)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Environnement juridique (Statut   conventions…): L’entreprise est constituée en SARL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23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D28050-ADF3-4987-8BDE-DA00EEDDFE9B}"/>
              </a:ext>
            </a:extLst>
          </p:cNvPr>
          <p:cNvSpPr txBox="1"/>
          <p:nvPr/>
        </p:nvSpPr>
        <p:spPr>
          <a:xfrm>
            <a:off x="-311426" y="282165"/>
            <a:ext cx="9899374" cy="125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49325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II°) ANALYSE DES TABLEAU DE SYNTHESE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A°) Tableau des impôts à versement spontané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</a:t>
            </a:r>
            <a:r>
              <a:rPr lang="fr-FR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1°) TVA: tableau de bouclage 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1A1231-DAC7-48AB-B08D-7A8580A27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312542"/>
              </p:ext>
            </p:extLst>
          </p:nvPr>
        </p:nvGraphicFramePr>
        <p:xfrm>
          <a:off x="462065" y="1708839"/>
          <a:ext cx="11325743" cy="38630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57287">
                  <a:extLst>
                    <a:ext uri="{9D8B030D-6E8A-4147-A177-3AD203B41FA5}">
                      <a16:colId xmlns:a16="http://schemas.microsoft.com/office/drawing/2014/main" val="281768392"/>
                    </a:ext>
                  </a:extLst>
                </a:gridCol>
                <a:gridCol w="1569617">
                  <a:extLst>
                    <a:ext uri="{9D8B030D-6E8A-4147-A177-3AD203B41FA5}">
                      <a16:colId xmlns:a16="http://schemas.microsoft.com/office/drawing/2014/main" val="2632167257"/>
                    </a:ext>
                  </a:extLst>
                </a:gridCol>
                <a:gridCol w="1814611">
                  <a:extLst>
                    <a:ext uri="{9D8B030D-6E8A-4147-A177-3AD203B41FA5}">
                      <a16:colId xmlns:a16="http://schemas.microsoft.com/office/drawing/2014/main" val="2347377185"/>
                    </a:ext>
                  </a:extLst>
                </a:gridCol>
                <a:gridCol w="3384228">
                  <a:extLst>
                    <a:ext uri="{9D8B030D-6E8A-4147-A177-3AD203B41FA5}">
                      <a16:colId xmlns:a16="http://schemas.microsoft.com/office/drawing/2014/main" val="2161572183"/>
                    </a:ext>
                  </a:extLst>
                </a:gridCol>
              </a:tblGrid>
              <a:tr h="2061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LIBELLES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2023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2024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004948864"/>
                  </a:ext>
                </a:extLst>
              </a:tr>
              <a:tr h="766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CHIFFRE D'AFFAIRES DECLARE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Aucunes    déclaration de TVA dans le dossier                                           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494529859"/>
                  </a:ext>
                </a:extLst>
              </a:tr>
              <a:tr h="378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CHIFFRE D’AFFAIRES EXONERE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712286348"/>
                  </a:ext>
                </a:extLst>
              </a:tr>
              <a:tr h="378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CHIFFRE D’AFFAIRES GLOBAL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144822803"/>
                  </a:ext>
                </a:extLst>
              </a:tr>
              <a:tr h="2061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TVA COLLECTEE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630049073"/>
                  </a:ext>
                </a:extLst>
              </a:tr>
              <a:tr h="378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TVA DEDUCTIBLE SUR ACHATS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390574066"/>
                  </a:ext>
                </a:extLst>
              </a:tr>
              <a:tr h="2061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REPORT DU CREDIT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659355251"/>
                  </a:ext>
                </a:extLst>
              </a:tr>
              <a:tr h="378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TOTAL TVA DEDUCTIBLE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549532697"/>
                  </a:ext>
                </a:extLst>
              </a:tr>
              <a:tr h="2061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TVA NETTE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32896798"/>
                  </a:ext>
                </a:extLst>
              </a:tr>
              <a:tr h="378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TVA VERSEE AU COURS DE L'EXERCICE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86016933"/>
                  </a:ext>
                </a:extLst>
              </a:tr>
              <a:tr h="3787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TVA A REGULARISER OU CREDIT DE TVA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59496443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0CC7092-7464-4D22-B809-D05087D68B72}"/>
              </a:ext>
            </a:extLst>
          </p:cNvPr>
          <p:cNvSpPr txBox="1"/>
          <p:nvPr/>
        </p:nvSpPr>
        <p:spPr>
          <a:xfrm>
            <a:off x="462065" y="6042389"/>
            <a:ext cx="931803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 Aucunes  présence de  déclaration ou paiement de la TVA dans le dossier Fiscale.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002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E0FDEC-1C04-4491-8CE8-FC3E88C324D5}"/>
              </a:ext>
            </a:extLst>
          </p:cNvPr>
          <p:cNvSpPr txBox="1"/>
          <p:nvPr/>
        </p:nvSpPr>
        <p:spPr>
          <a:xfrm>
            <a:off x="66261" y="352988"/>
            <a:ext cx="123907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2°) IS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D724AC-7AD7-4F58-89D5-D41365B97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334108"/>
              </p:ext>
            </p:extLst>
          </p:nvPr>
        </p:nvGraphicFramePr>
        <p:xfrm>
          <a:off x="685800" y="942320"/>
          <a:ext cx="10671313" cy="27351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09758">
                  <a:extLst>
                    <a:ext uri="{9D8B030D-6E8A-4147-A177-3AD203B41FA5}">
                      <a16:colId xmlns:a16="http://schemas.microsoft.com/office/drawing/2014/main" val="4231798620"/>
                    </a:ext>
                  </a:extLst>
                </a:gridCol>
                <a:gridCol w="1519635">
                  <a:extLst>
                    <a:ext uri="{9D8B030D-6E8A-4147-A177-3AD203B41FA5}">
                      <a16:colId xmlns:a16="http://schemas.microsoft.com/office/drawing/2014/main" val="609108497"/>
                    </a:ext>
                  </a:extLst>
                </a:gridCol>
                <a:gridCol w="1559914">
                  <a:extLst>
                    <a:ext uri="{9D8B030D-6E8A-4147-A177-3AD203B41FA5}">
                      <a16:colId xmlns:a16="http://schemas.microsoft.com/office/drawing/2014/main" val="307784011"/>
                    </a:ext>
                  </a:extLst>
                </a:gridCol>
                <a:gridCol w="1633149">
                  <a:extLst>
                    <a:ext uri="{9D8B030D-6E8A-4147-A177-3AD203B41FA5}">
                      <a16:colId xmlns:a16="http://schemas.microsoft.com/office/drawing/2014/main" val="2406887075"/>
                    </a:ext>
                  </a:extLst>
                </a:gridCol>
                <a:gridCol w="2848857">
                  <a:extLst>
                    <a:ext uri="{9D8B030D-6E8A-4147-A177-3AD203B41FA5}">
                      <a16:colId xmlns:a16="http://schemas.microsoft.com/office/drawing/2014/main" val="2756398059"/>
                    </a:ext>
                  </a:extLst>
                </a:gridCol>
              </a:tblGrid>
              <a:tr h="2954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LIBELLES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2023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 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527951942"/>
                  </a:ext>
                </a:extLst>
              </a:tr>
              <a:tr h="4227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CHIFFRE D'AFFAIRES DECLARE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1 447 172 698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Baisse de CA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284658641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PRODUITS STOCKES DECLARES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829294385"/>
                  </a:ext>
                </a:extLst>
              </a:tr>
              <a:tr h="2750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RESULTAT COMPTABLE DECLARE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60 000 000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922929700"/>
                  </a:ext>
                </a:extLst>
              </a:tr>
              <a:tr h="2750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RESULTAT  FISCAL DECLARE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60 000 000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892794060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IMPOT SUR LES SOCIETES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18 000 000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797946208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ACOMPTES DUS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31 837 799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720289162"/>
                  </a:ext>
                </a:extLst>
              </a:tr>
              <a:tr h="2852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ACOMPTE VERSES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31 837 799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111959482"/>
                  </a:ext>
                </a:extLst>
              </a:tr>
              <a:tr h="2954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AUTRES PRELEVEMENTS DECLARES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42180014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3C7E6F6-4494-4E02-B038-EAEB41BD88E5}"/>
              </a:ext>
            </a:extLst>
          </p:cNvPr>
          <p:cNvSpPr txBox="1"/>
          <p:nvPr/>
        </p:nvSpPr>
        <p:spPr>
          <a:xfrm>
            <a:off x="685800" y="3892732"/>
            <a:ext cx="11333922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Commentaires :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société déclare néant dans la DSF 2023 mais les recoupements obtenus au cellule de gestion fait état de paiement de droit d’Enregistrement d’un montant de 8 250 600 FCFA pour un marché exécuté avec l’ETAT,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225DEF-F78A-416B-896F-31B3A6A14922}"/>
              </a:ext>
            </a:extLst>
          </p:cNvPr>
          <p:cNvSpPr txBox="1"/>
          <p:nvPr/>
        </p:nvSpPr>
        <p:spPr>
          <a:xfrm>
            <a:off x="66261" y="4645905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CM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3°) Les précomptes sur achats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815DE5-0503-4C02-9D4F-6035005CB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99627"/>
              </p:ext>
            </p:extLst>
          </p:nvPr>
        </p:nvGraphicFramePr>
        <p:xfrm>
          <a:off x="685800" y="5149098"/>
          <a:ext cx="10300251" cy="11986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53247">
                  <a:extLst>
                    <a:ext uri="{9D8B030D-6E8A-4147-A177-3AD203B41FA5}">
                      <a16:colId xmlns:a16="http://schemas.microsoft.com/office/drawing/2014/main" val="1161024327"/>
                    </a:ext>
                  </a:extLst>
                </a:gridCol>
                <a:gridCol w="868993">
                  <a:extLst>
                    <a:ext uri="{9D8B030D-6E8A-4147-A177-3AD203B41FA5}">
                      <a16:colId xmlns:a16="http://schemas.microsoft.com/office/drawing/2014/main" val="3915700184"/>
                    </a:ext>
                  </a:extLst>
                </a:gridCol>
                <a:gridCol w="1580079">
                  <a:extLst>
                    <a:ext uri="{9D8B030D-6E8A-4147-A177-3AD203B41FA5}">
                      <a16:colId xmlns:a16="http://schemas.microsoft.com/office/drawing/2014/main" val="1165203410"/>
                    </a:ext>
                  </a:extLst>
                </a:gridCol>
                <a:gridCol w="3797932">
                  <a:extLst>
                    <a:ext uri="{9D8B030D-6E8A-4147-A177-3AD203B41FA5}">
                      <a16:colId xmlns:a16="http://schemas.microsoft.com/office/drawing/2014/main" val="2291925785"/>
                    </a:ext>
                  </a:extLst>
                </a:gridCol>
              </a:tblGrid>
              <a:tr h="599134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Libellés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2023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2024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0276614"/>
                  </a:ext>
                </a:extLst>
              </a:tr>
              <a:tr h="306767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Précomptes sur achats  déduit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Pas des précompte sur achats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388228"/>
                  </a:ext>
                </a:extLst>
              </a:tr>
              <a:tr h="292792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Précomptes sur achats  versés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0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effectLst/>
                        </a:rPr>
                        <a:t>Aucune précompte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45669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4E2E3F6-2591-4EC3-AE7F-A7C134916831}"/>
              </a:ext>
            </a:extLst>
          </p:cNvPr>
          <p:cNvSpPr txBox="1"/>
          <p:nvPr/>
        </p:nvSpPr>
        <p:spPr>
          <a:xfrm>
            <a:off x="596348" y="63203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Commentaires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:</a:t>
            </a:r>
            <a:r>
              <a:rPr lang="fr-FR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N’est pas assujettis aux précomptes déclarés. 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255917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7038EF-B58D-4DDC-ABDB-3245DEA70D3C}"/>
              </a:ext>
            </a:extLst>
          </p:cNvPr>
          <p:cNvSpPr txBox="1"/>
          <p:nvPr/>
        </p:nvSpPr>
        <p:spPr>
          <a:xfrm>
            <a:off x="-172278" y="280101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4°) Des retenues sur salaires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A156DD-F35F-4FC3-BB54-7C80E034A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661316"/>
              </p:ext>
            </p:extLst>
          </p:nvPr>
        </p:nvGraphicFramePr>
        <p:xfrm>
          <a:off x="289469" y="762503"/>
          <a:ext cx="9086445" cy="16957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3689">
                  <a:extLst>
                    <a:ext uri="{9D8B030D-6E8A-4147-A177-3AD203B41FA5}">
                      <a16:colId xmlns:a16="http://schemas.microsoft.com/office/drawing/2014/main" val="2872019794"/>
                    </a:ext>
                  </a:extLst>
                </a:gridCol>
                <a:gridCol w="787924">
                  <a:extLst>
                    <a:ext uri="{9D8B030D-6E8A-4147-A177-3AD203B41FA5}">
                      <a16:colId xmlns:a16="http://schemas.microsoft.com/office/drawing/2014/main" val="471060294"/>
                    </a:ext>
                  </a:extLst>
                </a:gridCol>
                <a:gridCol w="1845459">
                  <a:extLst>
                    <a:ext uri="{9D8B030D-6E8A-4147-A177-3AD203B41FA5}">
                      <a16:colId xmlns:a16="http://schemas.microsoft.com/office/drawing/2014/main" val="182552571"/>
                    </a:ext>
                  </a:extLst>
                </a:gridCol>
                <a:gridCol w="4359373">
                  <a:extLst>
                    <a:ext uri="{9D8B030D-6E8A-4147-A177-3AD203B41FA5}">
                      <a16:colId xmlns:a16="http://schemas.microsoft.com/office/drawing/2014/main" val="4154768629"/>
                    </a:ext>
                  </a:extLst>
                </a:gridCol>
              </a:tblGrid>
              <a:tr h="573911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Libellés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2023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2024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212651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Masse salariale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Non renseigner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5033034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IRPP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Non renseigner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6551175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CFP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Non renseigner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6273670"/>
                  </a:ext>
                </a:extLst>
              </a:tr>
              <a:tr h="280466"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FNE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effectLst/>
                        </a:rPr>
                        <a:t>Non renseigner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89442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638037-0A96-4CB1-B3E6-DBCDB741A7A9}"/>
              </a:ext>
            </a:extLst>
          </p:cNvPr>
          <p:cNvSpPr txBox="1"/>
          <p:nvPr/>
        </p:nvSpPr>
        <p:spPr>
          <a:xfrm>
            <a:off x="-314738" y="2771510"/>
            <a:ext cx="6182138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5°) Précomptes sur loyers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EE6700-BD66-4B79-9815-1F241F661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330331"/>
              </p:ext>
            </p:extLst>
          </p:nvPr>
        </p:nvGraphicFramePr>
        <p:xfrm>
          <a:off x="289469" y="3260035"/>
          <a:ext cx="9086446" cy="12631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9261">
                  <a:extLst>
                    <a:ext uri="{9D8B030D-6E8A-4147-A177-3AD203B41FA5}">
                      <a16:colId xmlns:a16="http://schemas.microsoft.com/office/drawing/2014/main" val="2552228593"/>
                    </a:ext>
                  </a:extLst>
                </a:gridCol>
                <a:gridCol w="1126958">
                  <a:extLst>
                    <a:ext uri="{9D8B030D-6E8A-4147-A177-3AD203B41FA5}">
                      <a16:colId xmlns:a16="http://schemas.microsoft.com/office/drawing/2014/main" val="3478088165"/>
                    </a:ext>
                  </a:extLst>
                </a:gridCol>
                <a:gridCol w="1145250">
                  <a:extLst>
                    <a:ext uri="{9D8B030D-6E8A-4147-A177-3AD203B41FA5}">
                      <a16:colId xmlns:a16="http://schemas.microsoft.com/office/drawing/2014/main" val="2539733662"/>
                    </a:ext>
                  </a:extLst>
                </a:gridCol>
                <a:gridCol w="2294477">
                  <a:extLst>
                    <a:ext uri="{9D8B030D-6E8A-4147-A177-3AD203B41FA5}">
                      <a16:colId xmlns:a16="http://schemas.microsoft.com/office/drawing/2014/main" val="417192812"/>
                    </a:ext>
                  </a:extLst>
                </a:gridCol>
                <a:gridCol w="2290500">
                  <a:extLst>
                    <a:ext uri="{9D8B030D-6E8A-4147-A177-3AD203B41FA5}">
                      <a16:colId xmlns:a16="http://schemas.microsoft.com/office/drawing/2014/main" val="3532450750"/>
                    </a:ext>
                  </a:extLst>
                </a:gridCol>
              </a:tblGrid>
              <a:tr h="414659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Libellés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2023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6853464"/>
                  </a:ext>
                </a:extLst>
              </a:tr>
              <a:tr h="848507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Précompte sur loyers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240 000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60 000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néant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effectLst/>
                        </a:rPr>
                        <a:t>baisse des précomptes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233429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737B2D8-8C03-40F0-BE73-A9D55838DBA0}"/>
              </a:ext>
            </a:extLst>
          </p:cNvPr>
          <p:cNvSpPr txBox="1"/>
          <p:nvPr/>
        </p:nvSpPr>
        <p:spPr>
          <a:xfrm>
            <a:off x="69575" y="5314733"/>
            <a:ext cx="6251712" cy="126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6°) Taxe foncière</a:t>
            </a:r>
            <a:endParaRPr lang="fr-CM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RAS</a:t>
            </a:r>
            <a:endParaRPr lang="fr-CM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7°) Autres versements spontanés</a:t>
            </a:r>
            <a:endParaRPr lang="fr-CM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RAS   </a:t>
            </a:r>
            <a:endParaRPr lang="fr-CM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39685-C214-4CF8-B297-287014D8EEB9}"/>
              </a:ext>
            </a:extLst>
          </p:cNvPr>
          <p:cNvSpPr txBox="1"/>
          <p:nvPr/>
        </p:nvSpPr>
        <p:spPr>
          <a:xfrm>
            <a:off x="-172278" y="4805718"/>
            <a:ext cx="6251712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Commentaires :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Exiger les contrats de location.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385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D15D1A-3A67-4D50-A297-FB764BF4326D}"/>
              </a:ext>
            </a:extLst>
          </p:cNvPr>
          <p:cNvSpPr txBox="1"/>
          <p:nvPr/>
        </p:nvSpPr>
        <p:spPr>
          <a:xfrm>
            <a:off x="258417" y="339736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8°) Droits d’enregistrement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6DF3A5-3EDE-4DC1-BA70-1E9AAEF06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358943"/>
              </p:ext>
            </p:extLst>
          </p:nvPr>
        </p:nvGraphicFramePr>
        <p:xfrm>
          <a:off x="457241" y="866905"/>
          <a:ext cx="9021129" cy="1287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3858">
                  <a:extLst>
                    <a:ext uri="{9D8B030D-6E8A-4147-A177-3AD203B41FA5}">
                      <a16:colId xmlns:a16="http://schemas.microsoft.com/office/drawing/2014/main" val="630712497"/>
                    </a:ext>
                  </a:extLst>
                </a:gridCol>
                <a:gridCol w="1122087">
                  <a:extLst>
                    <a:ext uri="{9D8B030D-6E8A-4147-A177-3AD203B41FA5}">
                      <a16:colId xmlns:a16="http://schemas.microsoft.com/office/drawing/2014/main" val="3087077545"/>
                    </a:ext>
                  </a:extLst>
                </a:gridCol>
                <a:gridCol w="1137148">
                  <a:extLst>
                    <a:ext uri="{9D8B030D-6E8A-4147-A177-3AD203B41FA5}">
                      <a16:colId xmlns:a16="http://schemas.microsoft.com/office/drawing/2014/main" val="3537037738"/>
                    </a:ext>
                  </a:extLst>
                </a:gridCol>
                <a:gridCol w="1839018">
                  <a:extLst>
                    <a:ext uri="{9D8B030D-6E8A-4147-A177-3AD203B41FA5}">
                      <a16:colId xmlns:a16="http://schemas.microsoft.com/office/drawing/2014/main" val="2090689794"/>
                    </a:ext>
                  </a:extLst>
                </a:gridCol>
                <a:gridCol w="1839018">
                  <a:extLst>
                    <a:ext uri="{9D8B030D-6E8A-4147-A177-3AD203B41FA5}">
                      <a16:colId xmlns:a16="http://schemas.microsoft.com/office/drawing/2014/main" val="1738454280"/>
                    </a:ext>
                  </a:extLst>
                </a:gridCol>
              </a:tblGrid>
              <a:tr h="334985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Libellés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2023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3561771"/>
                  </a:ext>
                </a:extLst>
              </a:tr>
              <a:tr h="427719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 dirty="0">
                          <a:effectLst/>
                        </a:rPr>
                        <a:t>Droits enregistrement sur loyers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240 000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60 000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effectLst/>
                        </a:rPr>
                        <a:t>En baisse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1192301"/>
                  </a:ext>
                </a:extLst>
              </a:tr>
              <a:tr h="506266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Autres droits d’enregistrement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44 553 190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64 220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8 250 600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effectLst/>
                        </a:rPr>
                        <a:t>En baisse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81484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FA81C1F-D534-40BC-999D-3B467D534AAA}"/>
              </a:ext>
            </a:extLst>
          </p:cNvPr>
          <p:cNvSpPr txBox="1"/>
          <p:nvPr/>
        </p:nvSpPr>
        <p:spPr>
          <a:xfrm>
            <a:off x="457241" y="2236089"/>
            <a:ext cx="10734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Commentaires : 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Exiger les contrats de location et s’intéresser sur la nature des autres droits d’enregistrement.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fr-CM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1E8A2E-B172-4B4F-BCD3-21CD8EADF8F3}"/>
              </a:ext>
            </a:extLst>
          </p:cNvPr>
          <p:cNvSpPr txBox="1"/>
          <p:nvPr/>
        </p:nvSpPr>
        <p:spPr>
          <a:xfrm>
            <a:off x="-170635" y="2605421"/>
            <a:ext cx="12218464" cy="155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9°) TSR</a:t>
            </a:r>
            <a:endParaRPr lang="fr-CM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RAS</a:t>
            </a:r>
            <a:endParaRPr lang="fr-CM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III°) ANALYSE DES POSTES IMPORTANTS DU BILAN</a:t>
            </a:r>
            <a:endParaRPr lang="fr-CM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A°) Actif</a:t>
            </a:r>
            <a:endParaRPr lang="fr-CM" sz="1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Les postes les plus les important de l’actif.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CF40CE3-876C-4338-9E84-F3D540EBE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576192"/>
              </p:ext>
            </p:extLst>
          </p:nvPr>
        </p:nvGraphicFramePr>
        <p:xfrm>
          <a:off x="362897" y="4165306"/>
          <a:ext cx="11466205" cy="2167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61525">
                  <a:extLst>
                    <a:ext uri="{9D8B030D-6E8A-4147-A177-3AD203B41FA5}">
                      <a16:colId xmlns:a16="http://schemas.microsoft.com/office/drawing/2014/main" val="1325466367"/>
                    </a:ext>
                  </a:extLst>
                </a:gridCol>
                <a:gridCol w="1938128">
                  <a:extLst>
                    <a:ext uri="{9D8B030D-6E8A-4147-A177-3AD203B41FA5}">
                      <a16:colId xmlns:a16="http://schemas.microsoft.com/office/drawing/2014/main" val="203169922"/>
                    </a:ext>
                  </a:extLst>
                </a:gridCol>
                <a:gridCol w="1191602">
                  <a:extLst>
                    <a:ext uri="{9D8B030D-6E8A-4147-A177-3AD203B41FA5}">
                      <a16:colId xmlns:a16="http://schemas.microsoft.com/office/drawing/2014/main" val="3012764607"/>
                    </a:ext>
                  </a:extLst>
                </a:gridCol>
                <a:gridCol w="4474950">
                  <a:extLst>
                    <a:ext uri="{9D8B030D-6E8A-4147-A177-3AD203B41FA5}">
                      <a16:colId xmlns:a16="http://schemas.microsoft.com/office/drawing/2014/main" val="2938783324"/>
                    </a:ext>
                  </a:extLst>
                </a:gridCol>
              </a:tblGrid>
              <a:tr h="309608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Libellés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906453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Clients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367 759 076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Créances clients en diminution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5071969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Stock encours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RAS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9340214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 Autres créances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En diminution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6461536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Banques et chèque postaux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38 924 712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En diminution 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0494049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Matériel de transport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1385 000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En Diminution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7304350"/>
                  </a:ext>
                </a:extLst>
              </a:tr>
              <a:tr h="309608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Fournisseurs avances versées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 dirty="0">
                          <a:effectLst/>
                        </a:rPr>
                        <a:t> 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6161718"/>
                  </a:ext>
                </a:extLst>
              </a:tr>
            </a:tbl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58A28828-C35E-4707-99B4-B76B8440B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97" y="4636428"/>
            <a:ext cx="2029127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963C58-D1B1-4E0A-B20B-18FB43E062EB}"/>
              </a:ext>
            </a:extLst>
          </p:cNvPr>
          <p:cNvSpPr txBox="1"/>
          <p:nvPr/>
        </p:nvSpPr>
        <p:spPr>
          <a:xfrm>
            <a:off x="457241" y="6410187"/>
            <a:ext cx="1041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Commentaires :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96170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DA7801-224A-492D-9651-E220FA724DEF}"/>
              </a:ext>
            </a:extLst>
          </p:cNvPr>
          <p:cNvSpPr txBox="1"/>
          <p:nvPr/>
        </p:nvSpPr>
        <p:spPr>
          <a:xfrm>
            <a:off x="0" y="167458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B°) Passif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EC5CAA-C7DD-4A6A-9CA4-D193D927C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136450"/>
              </p:ext>
            </p:extLst>
          </p:nvPr>
        </p:nvGraphicFramePr>
        <p:xfrm>
          <a:off x="329806" y="642742"/>
          <a:ext cx="9344280" cy="13782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7132">
                  <a:extLst>
                    <a:ext uri="{9D8B030D-6E8A-4147-A177-3AD203B41FA5}">
                      <a16:colId xmlns:a16="http://schemas.microsoft.com/office/drawing/2014/main" val="3142016294"/>
                    </a:ext>
                  </a:extLst>
                </a:gridCol>
                <a:gridCol w="1698649">
                  <a:extLst>
                    <a:ext uri="{9D8B030D-6E8A-4147-A177-3AD203B41FA5}">
                      <a16:colId xmlns:a16="http://schemas.microsoft.com/office/drawing/2014/main" val="2488652868"/>
                    </a:ext>
                  </a:extLst>
                </a:gridCol>
                <a:gridCol w="1698649">
                  <a:extLst>
                    <a:ext uri="{9D8B030D-6E8A-4147-A177-3AD203B41FA5}">
                      <a16:colId xmlns:a16="http://schemas.microsoft.com/office/drawing/2014/main" val="21527269"/>
                    </a:ext>
                  </a:extLst>
                </a:gridCol>
                <a:gridCol w="969128">
                  <a:extLst>
                    <a:ext uri="{9D8B030D-6E8A-4147-A177-3AD203B41FA5}">
                      <a16:colId xmlns:a16="http://schemas.microsoft.com/office/drawing/2014/main" val="2625452428"/>
                    </a:ext>
                  </a:extLst>
                </a:gridCol>
                <a:gridCol w="3050722">
                  <a:extLst>
                    <a:ext uri="{9D8B030D-6E8A-4147-A177-3AD203B41FA5}">
                      <a16:colId xmlns:a16="http://schemas.microsoft.com/office/drawing/2014/main" val="1560001943"/>
                    </a:ext>
                  </a:extLst>
                </a:gridCol>
              </a:tblGrid>
              <a:tr h="344554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Libellés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2023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3450667"/>
                  </a:ext>
                </a:extLst>
              </a:tr>
              <a:tr h="344554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Fournisseurs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340 805 788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En Diminution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5200015"/>
                  </a:ext>
                </a:extLst>
              </a:tr>
              <a:tr h="344554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Résultat net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60 000 000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614 220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En Diminution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8935845"/>
                  </a:ext>
                </a:extLst>
              </a:tr>
              <a:tr h="344554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Capital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10 000 000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1 000 000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</a:pPr>
                      <a:r>
                        <a:rPr lang="fr-FR" sz="14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En Diminution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70325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A72034B-785D-4F5C-8397-E68465DCF0C7}"/>
              </a:ext>
            </a:extLst>
          </p:cNvPr>
          <p:cNvSpPr txBox="1"/>
          <p:nvPr/>
        </p:nvSpPr>
        <p:spPr>
          <a:xfrm>
            <a:off x="283423" y="2022775"/>
            <a:ext cx="10086403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Commentaires :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Tout le passif en diminution. A savoir pourquoi cette diminution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87DA9-9777-426D-967A-B48225FC8565}"/>
              </a:ext>
            </a:extLst>
          </p:cNvPr>
          <p:cNvSpPr txBox="1"/>
          <p:nvPr/>
        </p:nvSpPr>
        <p:spPr>
          <a:xfrm>
            <a:off x="329806" y="2518896"/>
            <a:ext cx="11676664" cy="1764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IV°) ANALYSE DES POSTES DE CHARGES ET DES PRODUITS :</a:t>
            </a:r>
            <a:endParaRPr lang="fr-CM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A°) Produits</a:t>
            </a:r>
            <a:endParaRPr lang="fr-CM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 titre des exercices soumis au contrôle   l’entreprise a réalisé des chiffres d’affaires   des résultats pour les montants respectifs détaillés au tableau ci-dessous: </a:t>
            </a:r>
            <a:endParaRPr lang="fr-CM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B330C91-2A8F-47A9-AE34-9EB8C6193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20881"/>
              </p:ext>
            </p:extLst>
          </p:nvPr>
        </p:nvGraphicFramePr>
        <p:xfrm>
          <a:off x="329806" y="4283674"/>
          <a:ext cx="10596611" cy="21045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7193">
                  <a:extLst>
                    <a:ext uri="{9D8B030D-6E8A-4147-A177-3AD203B41FA5}">
                      <a16:colId xmlns:a16="http://schemas.microsoft.com/office/drawing/2014/main" val="1198468817"/>
                    </a:ext>
                  </a:extLst>
                </a:gridCol>
                <a:gridCol w="2059164">
                  <a:extLst>
                    <a:ext uri="{9D8B030D-6E8A-4147-A177-3AD203B41FA5}">
                      <a16:colId xmlns:a16="http://schemas.microsoft.com/office/drawing/2014/main" val="3146687899"/>
                    </a:ext>
                  </a:extLst>
                </a:gridCol>
                <a:gridCol w="2220879">
                  <a:extLst>
                    <a:ext uri="{9D8B030D-6E8A-4147-A177-3AD203B41FA5}">
                      <a16:colId xmlns:a16="http://schemas.microsoft.com/office/drawing/2014/main" val="1155530606"/>
                    </a:ext>
                  </a:extLst>
                </a:gridCol>
                <a:gridCol w="2959375">
                  <a:extLst>
                    <a:ext uri="{9D8B030D-6E8A-4147-A177-3AD203B41FA5}">
                      <a16:colId xmlns:a16="http://schemas.microsoft.com/office/drawing/2014/main" val="1960175050"/>
                    </a:ext>
                  </a:extLst>
                </a:gridCol>
              </a:tblGrid>
              <a:tr h="2914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LIBELLES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6620473"/>
                  </a:ext>
                </a:extLst>
              </a:tr>
              <a:tr h="2914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CA déclaré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1 447 172 319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Diminution </a:t>
                      </a:r>
                      <a:r>
                        <a:rPr lang="fr-FR" sz="1000">
                          <a:effectLst/>
                        </a:rPr>
                        <a:t>significatives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41460575"/>
                  </a:ext>
                </a:extLst>
              </a:tr>
              <a:tr h="2914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Autres produits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RAS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383874356"/>
                  </a:ext>
                </a:extLst>
              </a:tr>
              <a:tr h="35609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Transferts de charges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RAS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260713174"/>
                  </a:ext>
                </a:extLst>
              </a:tr>
              <a:tr h="2914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Résultat comptable déclaré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60 000 000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614 220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Bénéficiaire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41553662"/>
                  </a:ext>
                </a:extLst>
              </a:tr>
              <a:tr h="2914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Résultat fiscal déclaré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60 000 000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614 220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Bénéficiaire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2100504961"/>
                  </a:ext>
                </a:extLst>
              </a:tr>
              <a:tr h="2914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IS 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31 923 791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dirty="0">
                          <a:effectLst/>
                        </a:rPr>
                        <a:t>Minimum de perception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64558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4270EC0-6AE8-481C-B3A3-B7EE6B84125E}"/>
              </a:ext>
            </a:extLst>
          </p:cNvPr>
          <p:cNvSpPr txBox="1"/>
          <p:nvPr/>
        </p:nvSpPr>
        <p:spPr>
          <a:xfrm>
            <a:off x="329806" y="6394427"/>
            <a:ext cx="9748472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COMMENTAIRES </a:t>
            </a:r>
            <a:r>
              <a:rPr lang="fr-FR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L’entreprise est en situation de bénéfice et au minimum de perception.</a:t>
            </a:r>
            <a:endParaRPr lang="fr-CM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042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69BA9F-745B-494A-9A02-BDCF718DB646}"/>
              </a:ext>
            </a:extLst>
          </p:cNvPr>
          <p:cNvSpPr txBox="1"/>
          <p:nvPr/>
        </p:nvSpPr>
        <p:spPr>
          <a:xfrm>
            <a:off x="0" y="94571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B°) Charges</a:t>
            </a:r>
            <a:endParaRPr lang="fr-CM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91F208-5672-409A-BE75-B79C2F8CC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415856"/>
              </p:ext>
            </p:extLst>
          </p:nvPr>
        </p:nvGraphicFramePr>
        <p:xfrm>
          <a:off x="148396" y="541005"/>
          <a:ext cx="10380457" cy="2159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2656">
                  <a:extLst>
                    <a:ext uri="{9D8B030D-6E8A-4147-A177-3AD203B41FA5}">
                      <a16:colId xmlns:a16="http://schemas.microsoft.com/office/drawing/2014/main" val="973177180"/>
                    </a:ext>
                  </a:extLst>
                </a:gridCol>
                <a:gridCol w="2194074">
                  <a:extLst>
                    <a:ext uri="{9D8B030D-6E8A-4147-A177-3AD203B41FA5}">
                      <a16:colId xmlns:a16="http://schemas.microsoft.com/office/drawing/2014/main" val="367559309"/>
                    </a:ext>
                  </a:extLst>
                </a:gridCol>
                <a:gridCol w="1831845">
                  <a:extLst>
                    <a:ext uri="{9D8B030D-6E8A-4147-A177-3AD203B41FA5}">
                      <a16:colId xmlns:a16="http://schemas.microsoft.com/office/drawing/2014/main" val="1879202237"/>
                    </a:ext>
                  </a:extLst>
                </a:gridCol>
                <a:gridCol w="2691882">
                  <a:extLst>
                    <a:ext uri="{9D8B030D-6E8A-4147-A177-3AD203B41FA5}">
                      <a16:colId xmlns:a16="http://schemas.microsoft.com/office/drawing/2014/main" val="2236431257"/>
                    </a:ext>
                  </a:extLst>
                </a:gridCol>
              </a:tblGrid>
              <a:tr h="43188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Libellés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1021002"/>
                  </a:ext>
                </a:extLst>
              </a:tr>
              <a:tr h="43188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Achats 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130 682 438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250 000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 Diminution significatives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0202969"/>
                  </a:ext>
                </a:extLst>
              </a:tr>
              <a:tr h="43188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Charges de personnel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RAS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3168741"/>
                  </a:ext>
                </a:extLst>
              </a:tr>
              <a:tr h="43188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Autres achats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3 604 900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614 220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  diminution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6001081"/>
                  </a:ext>
                </a:extLst>
              </a:tr>
              <a:tr h="43188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Location et Charges locatives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240 000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240 000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dirty="0">
                          <a:effectLst/>
                        </a:rPr>
                        <a:t>Stable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41981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D410450-43FA-4979-9053-92FCCB8EB821}"/>
              </a:ext>
            </a:extLst>
          </p:cNvPr>
          <p:cNvSpPr txBox="1"/>
          <p:nvPr/>
        </p:nvSpPr>
        <p:spPr>
          <a:xfrm>
            <a:off x="153711" y="2928198"/>
            <a:ext cx="11884578" cy="67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Commentaires :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constations de diminution significative des toutes les post des charges, en dehors des charges locatives qui sont resté stable.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96B70D-04BF-4F90-9C0C-3E29414AF0C0}"/>
              </a:ext>
            </a:extLst>
          </p:cNvPr>
          <p:cNvSpPr txBox="1"/>
          <p:nvPr/>
        </p:nvSpPr>
        <p:spPr>
          <a:xfrm>
            <a:off x="148396" y="3779029"/>
            <a:ext cx="6122504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RATIO PAR RAPPORT AU CHIFFRE D’AFFAIRES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D654CD-AA6C-423D-8122-651D150D8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816235"/>
              </p:ext>
            </p:extLst>
          </p:nvPr>
        </p:nvGraphicFramePr>
        <p:xfrm>
          <a:off x="148396" y="4331421"/>
          <a:ext cx="10115413" cy="15790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7612">
                  <a:extLst>
                    <a:ext uri="{9D8B030D-6E8A-4147-A177-3AD203B41FA5}">
                      <a16:colId xmlns:a16="http://schemas.microsoft.com/office/drawing/2014/main" val="1979931049"/>
                    </a:ext>
                  </a:extLst>
                </a:gridCol>
                <a:gridCol w="2078825">
                  <a:extLst>
                    <a:ext uri="{9D8B030D-6E8A-4147-A177-3AD203B41FA5}">
                      <a16:colId xmlns:a16="http://schemas.microsoft.com/office/drawing/2014/main" val="1313203647"/>
                    </a:ext>
                  </a:extLst>
                </a:gridCol>
                <a:gridCol w="1681711">
                  <a:extLst>
                    <a:ext uri="{9D8B030D-6E8A-4147-A177-3AD203B41FA5}">
                      <a16:colId xmlns:a16="http://schemas.microsoft.com/office/drawing/2014/main" val="3189171706"/>
                    </a:ext>
                  </a:extLst>
                </a:gridCol>
                <a:gridCol w="4127265">
                  <a:extLst>
                    <a:ext uri="{9D8B030D-6E8A-4147-A177-3AD203B41FA5}">
                      <a16:colId xmlns:a16="http://schemas.microsoft.com/office/drawing/2014/main" val="1457369141"/>
                    </a:ext>
                  </a:extLst>
                </a:gridCol>
              </a:tblGrid>
              <a:tr h="3947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LIBELLES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2021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2022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OBSERVATIONS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2611403"/>
                  </a:ext>
                </a:extLst>
              </a:tr>
              <a:tr h="3947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CA déclaré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1 447 172 319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Chiffre d’affaires en diminution total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665222664"/>
                  </a:ext>
                </a:extLst>
              </a:tr>
              <a:tr h="3947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Achats 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130 682 438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250 000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Baisse complètement des achats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94783971"/>
                  </a:ext>
                </a:extLst>
              </a:tr>
              <a:tr h="3947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>
                          <a:effectLst/>
                        </a:rPr>
                        <a:t>Ratio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>
                          <a:effectLst/>
                        </a:rPr>
                        <a:t> </a:t>
                      </a:r>
                      <a:endParaRPr lang="fr-CM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CM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69561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C245554-EA6A-4981-8488-2DCC5ADFA4FB}"/>
              </a:ext>
            </a:extLst>
          </p:cNvPr>
          <p:cNvSpPr txBox="1"/>
          <p:nvPr/>
        </p:nvSpPr>
        <p:spPr>
          <a:xfrm>
            <a:off x="148396" y="5784092"/>
            <a:ext cx="9737724" cy="53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b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Commentaires :</a:t>
            </a:r>
            <a:r>
              <a:rPr lang="fr-FR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diminution du CA peux être liée aux baisse d’activités,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993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96664A-3A63-4A8C-ADAA-29668521A6E8}"/>
              </a:ext>
            </a:extLst>
          </p:cNvPr>
          <p:cNvSpPr txBox="1"/>
          <p:nvPr/>
        </p:nvSpPr>
        <p:spPr>
          <a:xfrm>
            <a:off x="231913" y="70781"/>
            <a:ext cx="11701670" cy="1931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V°) COMMENTAIRE SUR LES INFORMATIONS EXTERIEURES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Recoupement : </a:t>
            </a:r>
            <a:r>
              <a:rPr lang="fr-FR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Recoupement cellule de gestion suit paiement des droits d’Enregistrement en 2023 d’un montant de </a:t>
            </a: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FCFA 8 250 600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Autres             : RAS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VI°) PRESENTATION DU PASSIF DE L’ENTREPRISE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09B4FE-EF61-47FA-A1DE-0560A8A01E93}"/>
              </a:ext>
            </a:extLst>
          </p:cNvPr>
          <p:cNvSpPr txBox="1"/>
          <p:nvPr/>
        </p:nvSpPr>
        <p:spPr>
          <a:xfrm>
            <a:off x="695739" y="2483104"/>
            <a:ext cx="10952922" cy="3323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49325">
              <a:lnSpc>
                <a:spcPct val="107000"/>
              </a:lnSpc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A°) Dette de l’entreprise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Associé    		: 0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Etat       	 	: 0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Emprunt		: 0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Banque    		: 0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R"/>
            </a:pPr>
            <a:r>
              <a:rPr lang="fr-FR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Fournisseurs 	: 340 805 788 (2021)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30325">
              <a:lnSpc>
                <a:spcPct val="107000"/>
              </a:lnSpc>
            </a:pPr>
            <a:r>
              <a:rPr lang="fr-FR" sz="9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3300">
              <a:lnSpc>
                <a:spcPct val="107000"/>
              </a:lnSpc>
            </a:pPr>
            <a:r>
              <a:rPr lang="fr-FR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B°) DERNIERE VERIFICATION GENERALE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3300">
              <a:lnSpc>
                <a:spcPct val="107000"/>
              </a:lnSpc>
            </a:pPr>
            <a:r>
              <a:rPr lang="fr-FR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Principal : RAS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3300">
              <a:lnSpc>
                <a:spcPct val="107000"/>
              </a:lnSpc>
            </a:pPr>
            <a:r>
              <a:rPr lang="fr-FR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Pénalités : RAS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3300">
              <a:lnSpc>
                <a:spcPct val="107000"/>
              </a:lnSpc>
            </a:pPr>
            <a:r>
              <a:rPr lang="fr-FR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TOTAL : RAS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3300">
              <a:lnSpc>
                <a:spcPct val="107000"/>
              </a:lnSpc>
              <a:spcAft>
                <a:spcPts val="800"/>
              </a:spcAft>
            </a:pPr>
            <a:r>
              <a:rPr lang="fr-FR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REDRESSEMENTS RETENUS : RAS</a:t>
            </a:r>
            <a:endParaRPr lang="fr-CM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83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CAC265-2857-4F15-B513-A36D338DDC30}"/>
              </a:ext>
            </a:extLst>
          </p:cNvPr>
          <p:cNvSpPr txBox="1"/>
          <p:nvPr/>
        </p:nvSpPr>
        <p:spPr>
          <a:xfrm>
            <a:off x="304799" y="184645"/>
            <a:ext cx="11661913" cy="465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VII°) ANNONCE DES INVESTIGATIONS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 regard de ce qui précède   nos travaux seront axés :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ce qui concerne les produits : le chiffre d’affaires ;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 algn="just">
              <a:lnSpc>
                <a:spcPct val="107000"/>
              </a:lnSpc>
              <a:spcAft>
                <a:spcPts val="800"/>
              </a:spcAft>
            </a:pPr>
            <a:r>
              <a:rPr lang="fr-FR" sz="10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180" algn="just">
              <a:lnSpc>
                <a:spcPct val="107000"/>
              </a:lnSpc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-Faire le rapprochement entre  CA déclarées et celles recoupées au niveau de la gestion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180" algn="just">
              <a:lnSpc>
                <a:spcPct val="107000"/>
              </a:lnSpc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-Procéder au pointage systématique des virements et des encaissements reçus dans les différents comptes bancaires, identifier leur nature et leur origine et faire le rapprochement avec le chiffre d’affaires déclaré,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78180"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-Exiger le grand livre tiers clients et faires des recoupements auprès de certains clients identifiés ( droit de communication).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2-Pour ce qui concerne les comptes de gestion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Les charges :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DB4D6-88C2-445A-A60F-A208ACF5B909}"/>
              </a:ext>
            </a:extLst>
          </p:cNvPr>
          <p:cNvSpPr txBox="1"/>
          <p:nvPr/>
        </p:nvSpPr>
        <p:spPr>
          <a:xfrm>
            <a:off x="463827" y="4913827"/>
            <a:ext cx="5300869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Charges les plus importantes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 - </a:t>
            </a: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achats de marchandise  </a:t>
            </a:r>
            <a:r>
              <a:rPr lang="fr-FR" sz="1800" b="1" i="1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 - Se rassurer de l’effectivité de ces achats en exigent les supports,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68883-DCDF-4B31-BBE9-3B920DB403BA}"/>
              </a:ext>
            </a:extLst>
          </p:cNvPr>
          <p:cNvSpPr txBox="1"/>
          <p:nvPr/>
        </p:nvSpPr>
        <p:spPr>
          <a:xfrm>
            <a:off x="6096000" y="5039722"/>
            <a:ext cx="6096000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-Les achats locaux de marchandises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Faires des recoupements auprès des fournisseurs locaux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sz="1800" b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propos du déficit reporté</a:t>
            </a: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se rassurer du respect des conditions de déductibilité prévues à l’article 12 du CGI.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133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DDAFE8-B6BB-4082-AD56-8A1652D0F601}"/>
              </a:ext>
            </a:extLst>
          </p:cNvPr>
          <p:cNvSpPr txBox="1"/>
          <p:nvPr/>
        </p:nvSpPr>
        <p:spPr>
          <a:xfrm>
            <a:off x="132522" y="277062"/>
            <a:ext cx="11926956" cy="642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3-Pour ce qui concerne le Bilan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Actif :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Postes importants :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-Pour les créances sur les clients, demander de produire la balance tiers clients à six colonnes afin de pouvoir identifier les clients revendeurs, clients simples,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-Pour les autres créances liées aux crédits d’impôts, s’assurer de l’effectivité de ces crédits (crédit TVA, crédit IS).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Passif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Postes importants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Les fournisseurs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Demander de produire la balance tiers fournisseur à six colonnes afin de pouvoir identifier les fournisseurs et faire des droits de communications,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4- Pour ce qui concerne les Impôts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800"/>
              </a:spcAft>
            </a:pPr>
            <a:r>
              <a:rPr lang="fr-FR" sz="1000" b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lphaLcParenR"/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ce qui est de la TVA :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496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FE9528-D548-4F92-A285-9B08787E46D3}"/>
              </a:ext>
            </a:extLst>
          </p:cNvPr>
          <p:cNvSpPr txBox="1"/>
          <p:nvPr/>
        </p:nvSpPr>
        <p:spPr>
          <a:xfrm>
            <a:off x="145773" y="128371"/>
            <a:ext cx="11933583" cy="5949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b)   Pour ce qui est de l’IS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- Les investigations porteront essentiellement sur :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Procéder à la réintégration des charges rejetées,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Wingdings" panose="05000000000000000000" pitchFamily="2" charset="2"/>
              <a:buChar char=""/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-Procéder le cas échéant à la réintégration des écarts sur chiffre d’affaires,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- S’assurer de la bonne détermination du solde en tenant compte de tous les éléments (résultat déclaré, taux de l‘impôt, impôts réellement acquittés au titre de l’exercice)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Faire le rapprochement des factures d’achats aux mouvements des comptes de fournisseurs en faisant une analyse croisée afin de déceler les incohérences éventuelles ;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fr-FR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S’assurer de l’effectivité de la dette fournisseur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Pour ce qui est des retenues sur salaires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S’assurer que la base taxable a tenu compte de tous les avantages en nature et en espèces accordés au personnel,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S’assurer que toutes les retenues ont été reversées.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d)  </a:t>
            </a: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ce qui des droits d’enregistrement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</a:t>
            </a: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fr-FR" sz="1800" i="1" dirty="0">
                <a:solidFill>
                  <a:srgbClr val="FF000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Exiger les copies des conventions ainsi que les quittances des droits d’enregistrement y afférents.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2130530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F70C6A-59A7-41FA-A181-211FCE23770B}"/>
              </a:ext>
            </a:extLst>
          </p:cNvPr>
          <p:cNvSpPr txBox="1"/>
          <p:nvPr/>
        </p:nvSpPr>
        <p:spPr>
          <a:xfrm>
            <a:off x="443947" y="1535629"/>
            <a:ext cx="11098696" cy="3865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VIII°) AUTRES DILIGENCES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24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Remplir la fiche de solvabilité pendant les travaux sur place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4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24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fr-FR" sz="24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RECOMMANDATIONS   </a:t>
            </a:r>
            <a:endParaRPr lang="fr-CM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1800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18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fr-FR" sz="24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Faire des droites communications auprès des différents partenaires,</a:t>
            </a:r>
            <a:endParaRPr lang="fr-CM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24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-Solliciter un rendez-vous avec le promoteur,</a:t>
            </a:r>
            <a:endParaRPr lang="fr-CM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24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-Exiger les fiches d’inventaires de stocks (marchandises),</a:t>
            </a:r>
            <a:endParaRPr lang="fr-CM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</a:pPr>
            <a:r>
              <a:rPr lang="fr-FR" sz="24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-Demander le modèle économique,</a:t>
            </a:r>
            <a:endParaRPr lang="fr-CM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fr-FR" sz="2400" b="1" i="1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Le rapport d’activité.</a:t>
            </a:r>
            <a:endParaRPr lang="fr-CM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165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1677</Words>
  <Application>Microsoft Office PowerPoint</Application>
  <PresentationFormat>Widescreen</PresentationFormat>
  <Paragraphs>456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Hermes</dc:creator>
  <cp:lastModifiedBy>Hermes</cp:lastModifiedBy>
  <cp:revision>7</cp:revision>
  <dcterms:created xsi:type="dcterms:W3CDTF">2025-07-23T19:31:30Z</dcterms:created>
  <dcterms:modified xsi:type="dcterms:W3CDTF">2025-07-23T20:21:39Z</dcterms:modified>
</cp:coreProperties>
</file>